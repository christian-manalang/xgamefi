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xGameFi — the missing commerce layer for game studios, and it settles every payment on Stellar. The pitch in one line: a studio connects its existing item system and gets a professional, wallet-ready storefront live in hours instead of weeks — payments, fulfilment, P2P resale, referrals, and promotions all handled, and every one of those money movements is a real, verified Stellar transaction. Since our last deck, SPEC.md v1 is now fully shipped: the studio dashboard, purchase history, P2P sell flow, and a self-contained demo environment are all live and CI-green. Today I'll walk through the demo, how it works, why it matters to the Stellar network specifically, our plan to integrate deeper into the Stellar ecosystem, and how we're taking this to market — starting at home in the Philippines, then APAC, then globally.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pain is specific and universal: any indie studio selling skins, cores, or gear has to build the same three things every time — a checkout, a shop, and a delivery pipeline. None of that is the game; all of it is plumbing, and it's expensive, slow, and brittle. Players end up with janky, per-game checkouts and no real ownership. Web3 gaming promised item ownership, but so far it's mostly delivered friction. There's also an ecosystem-level cost to this fragmentation: if every studio builds its own one-off wallet integration, none of them reach the transaction volume that makes Stellar's speed and cost advantage obvious. We fix the friction for studios and players, and we concentrate that volume onto Stellar rails instead of scattering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xGameFi is the commerce layer between a game's item system and its players. A studio connects once — either we pull items from their API or they push via a signed webhook — and they immediately get a branded storefront. Players pay with a wallet, one click, no account, no password. We never trust the client: every payment is verified on-chain before anything advances. Then we handle the rest of the money and delivery automatically — instant net payout, item delivery, a P2P resale market, referrals, and promotions, all recorded in an append-only ledger. And now, a studio can do all of its own onboarding — branding, payout wallet, API keys, webhook — from a self-service dashboard, no engineering support needed from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everything is built around. I open the Gridlock Games storefront. An audience member connects a wallet — one-click sign-in, no account, no password. They pick the Sword Skin for one USDT. Checkout returns a pay request plus a QR code. They scan it or tap pay, and sign. The platform verifies the payment on Stellar — correct account, correct amount, bound to this order — and the order flips to PAID. We record it in the ledger, the net payout goes to the studio, and the game is told to grant the skin. The live feed updates in real time — payment in, item delivered. This whole path runs end-to-end in CI on every push, asserting PAID then DELIVERED through the live status stream — it's not just a stage demo, it's a regression-tested product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what's actually happening behind the scenes. Each studio gets its own branded storefront, and every query is scoped to that studio — one deployment serves many studios safely. When a player pays, we don't take the client's word for it: the platform confirms the payment itself on Stellar before anything moves. The moment it clears, two things happen automatically — the studio gets its net share, and the game is told to grant the item — with retries so a dropped connection never loses an order. The rules that touch money live in one place and are tested first, so there's exactly one definition of ‘paid.’ And every sale, payout, resale, and refund lands in an append-only ledger a studio can audit. That's what makes the live demo — and every studio's daily volume — reliable.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explicit about why this matters to Stellar, not just to us. Every purchase, every studio payout, every P2P escrow release, every referral reward in xGameFi is a real, on-chain, verified Stellar transaction — Horizon confirms it before an order advances. That means xGameFi is a transaction-volume driver for the network, not a wrapper around a centralized ledger with a Stellar label on it. It's also a genuinely useful, repeatable, non-speculative use case — microtransaction commerce — running at production traffic patterns, which is exactly the kind of retail volume that expands Stellar's footprint in gaming beyond wallets and DEX trading into everyday consumer payments. For studios, that same on-chain settlement means near-instant payouts and a much lower take-rate than a 30%-cut, weeks-long-hold platform store. Our business model — a per-transaction platform fee — is directly aligned with growing that on-chain volume, not fighting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researched this deliberately rather than guessing — the full write-up with citations is filed as GitHub issue #137. Here's the short version, ranked by leverage. The single biggest onboarding unlock is passkey and smart-wallet support: Stellar's native WebAuthn signers, paired with the open-source Passkey Kit and the Foundation's Launchtube fee-sponsorship relay, let a player start with zero seed phrase and zero XLM — sign in with Face ID, done. Second, a SEP-24 anchor integration lets a player fund a wallet with a card right inside our checkout, removing the 'must already own crypto' wall entirely. Third, we want to move item ownership on-chain as Soroban NFTs — today ownership is a database mirror we verify by calling back into a studio's own API; an on-chain NFT makes P2P trading trustless and opens cross-studio secondary markets, the strongest 'real Soroban usage at consumer scale' story available. We'll also diversify beyond one demo stablecoin to the real anchor-issued assets already live — USDC, EURC, MoneyGram's MGUSD — support path payments so a player can check out with whatever asset they hold, and migrate our bespoke wallet-auth flow to the SEP-10 standard so we interoperate with the wider wallet ecosystem, not just Freighter. We plan to fund this roadmap partly through the Stellar Community Fund Build Award — up to $150K in XLM per round — since ecosystem impact is exactly what that program scores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go-to-market is deliberately staged, not a simultaneous global launch. We start at home, in the Philippines, where we already have an anchor partner in Gridlock Games and a founder/team home-field advantage. Filipino players are already comfortable with e-wallet-style payments through GCash and Maya, and local Stellar anchors give us peso on/off-ramps, so the 'players need to already own crypto' barrier is smaller here than almost anywhere else. We plan to pull in a pilot cohort of studios from the local indie and mobile dev community over the next two quarters. From there we expand regionally into APAC markets with similar dynamics — Vietnam, Indonesia, Thailand — large mobile gaming populations, strong wallet adoption, and the same e-wallet-to-crypto-wallet familiarity we rely on at home; we localize currency and branding per market and lean on regional anchors and publisher partnerships rather than cold-starting every studio ourselves. Globally, we don't try to out-market established platforms directly — we go through the Stellar ecosystem itself: developer communities, game jams, an SCF Build Award application, multi-stablecoin support so no studio is tied to one regional asset, and eventually on-chain NFT item interoperability, which becomes a real network-effect moat once enough studios are on the rail.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our last deck, the gap between spec and shipped code has closed: the studio dashboard, transactions, P2P management, settings, player purchase history, and the P2P sell page are all built and merged, and we run a self-contained demo with a bundled mock game server so the whole flow works without any external partner backend. The roadmap from here is the ecosystem integration plan and the GTM plan I just walked through, running in parallel: multi-anchor and SEP-10 first because they're low effort and unblock everything downstream, then passkey onboarding and SEP-24 fiat on-ramp as the highest-leverage adoption unlocks, then Soroban NFT item ownership once we've proven the model with a few studios. On the GTM side, we execute the Philippines pilot now, APAC next, and use ecosystem-level plays — grants, SDK partnerships, multi-asset support — to go global without a heavy direct-sales motion.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xGameFi — commerce infrastructure for game studios, built on Stellar, with a concrete plan to deepen that integration and a staged go-to-market starting at home in the Philippines. The team placeholders are here for you to fill in with names, roles, and contact handles. Everything I showed is real and in the repo on the develop branch, documented across the spec, the engineering guide, the brand system, the feature log, and the ecosystem research issue. Thanks to Gridlock Games as our anchor partner, to the Stellar Community Fund and the broader Stellar developer ecosystem whose tools (Passkey Kit, Launchtube, the Anchor Platform, OpenZeppelin's Stellar Contracts) make our roadmap realistic rather than speculative, and to everyone reviewing this deck. We'd love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8778240" y="4480560"/>
            <a:ext cx="2194560" cy="1737360"/>
          </a:xfrm>
          <a:custGeom>
            <a:avLst/>
            <a:gdLst/>
            <a:ahLst/>
            <a:cxnLst/>
            <a:rect l="l" t="t" r="r" b="b"/>
            <a:pathLst>
              <a:path w="2194560" h="1737360">
                <a:moveTo>
                  <a:pt x="0" y="0"/>
                </a:moveTo>
                <a:lnTo>
                  <a:pt x="2194560" y="0"/>
                </a:lnTo>
                <a:lnTo>
                  <a:pt x="2194560" y="1325880"/>
                </a:lnTo>
                <a:lnTo>
                  <a:pt x="1783080" y="1737360"/>
                </a:lnTo>
                <a:lnTo>
                  <a:pt x="0" y="1737360"/>
                </a:lnTo>
                <a:lnTo>
                  <a:pt x="0" y="0"/>
                </a:lnTo>
                <a:close/>
              </a:path>
            </a:pathLst>
          </a:custGeom>
          <a:solidFill>
            <a:srgbClr val="0E0E0E"/>
          </a:solidFill>
          <a:ln w="15875">
            <a:solidFill>
              <a:srgbClr val="444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jpg"/>
          <p:cNvPicPr>
            <a:picLocks noChangeAspect="1"/>
          </p:cNvPicPr>
          <p:nvPr/>
        </p:nvPicPr>
        <p:blipFill>
          <a:blip r:embed="rId2"/>
          <a:stretch>
            <a:fillRect/>
          </a:stretch>
        </p:blipFill>
        <p:spPr>
          <a:xfrm>
            <a:off x="548640" y="502920"/>
            <a:ext cx="1051560" cy="1051560"/>
          </a:xfrm>
          <a:prstGeom prst="rect">
            <a:avLst/>
          </a:prstGeom>
        </p:spPr>
      </p:pic>
      <p:sp>
        <p:nvSpPr>
          <p:cNvPr id="5" name="TextBox 4"/>
          <p:cNvSpPr txBox="1"/>
          <p:nvPr/>
        </p:nvSpPr>
        <p:spPr>
          <a:xfrm>
            <a:off x="1783080" y="658368"/>
            <a:ext cx="5486400" cy="822960"/>
          </a:xfrm>
          <a:prstGeom prst="rect">
            <a:avLst/>
          </a:prstGeom>
          <a:noFill/>
        </p:spPr>
        <p:txBody>
          <a:bodyPr wrap="square" lIns="0" rIns="0" tIns="0" bIns="0">
            <a:spAutoFit/>
          </a:bodyPr>
          <a:lstStyle/>
          <a:p>
            <a:r>
              <a:rPr sz="4000" b="1" i="1">
                <a:solidFill>
                  <a:srgbClr val="E5E2E1"/>
                </a:solidFill>
                <a:latin typeface="Space Grotesk"/>
              </a:rPr>
              <a:t>x</a:t>
            </a:r>
            <a:r>
              <a:rPr sz="4000" b="1" i="1">
                <a:solidFill>
                  <a:srgbClr val="C3F400"/>
                </a:solidFill>
                <a:latin typeface="Space Grotesk"/>
              </a:rPr>
              <a:t>GameFi</a:t>
            </a:r>
          </a:p>
        </p:txBody>
      </p:sp>
      <p:sp>
        <p:nvSpPr>
          <p:cNvPr id="6" name="TextBox 5"/>
          <p:cNvSpPr txBox="1"/>
          <p:nvPr/>
        </p:nvSpPr>
        <p:spPr>
          <a:xfrm>
            <a:off x="548640" y="2331720"/>
            <a:ext cx="8229600" cy="365760"/>
          </a:xfrm>
          <a:prstGeom prst="rect">
            <a:avLst/>
          </a:prstGeom>
          <a:noFill/>
        </p:spPr>
        <p:txBody>
          <a:bodyPr wrap="square" lIns="0" rIns="0" tIns="0" bIns="0">
            <a:spAutoFit/>
          </a:bodyPr>
          <a:lstStyle/>
          <a:p>
            <a:r>
              <a:rPr sz="1300" b="1" i="0" spc="140">
                <a:solidFill>
                  <a:srgbClr val="C3F400"/>
                </a:solidFill>
                <a:latin typeface="JetBrains Mono"/>
              </a:rPr>
              <a:t>NEON OVERDRIVE // PITCH DECK V3</a:t>
            </a:r>
          </a:p>
        </p:txBody>
      </p:sp>
      <p:sp>
        <p:nvSpPr>
          <p:cNvPr id="7" name="Rectangle 6"/>
          <p:cNvSpPr/>
          <p:nvPr/>
        </p:nvSpPr>
        <p:spPr>
          <a:xfrm>
            <a:off x="548640" y="2651760"/>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80360"/>
            <a:ext cx="10058400" cy="1097280"/>
          </a:xfrm>
          <a:prstGeom prst="rect">
            <a:avLst/>
          </a:prstGeom>
          <a:noFill/>
        </p:spPr>
        <p:txBody>
          <a:bodyPr wrap="square" lIns="0" rIns="0" tIns="0" bIns="0">
            <a:spAutoFit/>
          </a:bodyPr>
          <a:lstStyle/>
          <a:p>
            <a:r>
              <a:rPr sz="4000" b="1" i="0">
                <a:solidFill>
                  <a:srgbClr val="E5E2E1"/>
                </a:solidFill>
                <a:latin typeface="Space Grotesk"/>
              </a:rPr>
              <a:t>Commerce infrastructure for game studios</a:t>
            </a:r>
          </a:p>
        </p:txBody>
      </p:sp>
      <p:sp>
        <p:nvSpPr>
          <p:cNvPr id="9" name="TextBox 8"/>
          <p:cNvSpPr txBox="1"/>
          <p:nvPr/>
        </p:nvSpPr>
        <p:spPr>
          <a:xfrm>
            <a:off x="548640" y="3977639"/>
            <a:ext cx="9692640" cy="640080"/>
          </a:xfrm>
          <a:prstGeom prst="rect">
            <a:avLst/>
          </a:prstGeom>
          <a:noFill/>
        </p:spPr>
        <p:txBody>
          <a:bodyPr wrap="square" lIns="0" rIns="0" tIns="0" bIns="0">
            <a:spAutoFit/>
          </a:bodyPr>
          <a:lstStyle/>
          <a:p>
            <a:r>
              <a:rPr sz="1900" b="0" i="1">
                <a:solidFill>
                  <a:srgbClr val="C4C9AC"/>
                </a:solidFill>
                <a:latin typeface="Space Grotesk"/>
              </a:rPr>
              <a:t>Connect your game, get a Stellar-powered shop, go live in hours.</a:t>
            </a:r>
          </a:p>
        </p:txBody>
      </p:sp>
      <p:sp>
        <p:nvSpPr>
          <p:cNvPr id="10" name="TextBox 9"/>
          <p:cNvSpPr txBox="1"/>
          <p:nvPr/>
        </p:nvSpPr>
        <p:spPr>
          <a:xfrm>
            <a:off x="548640" y="4846320"/>
            <a:ext cx="7863840" cy="1005840"/>
          </a:xfrm>
          <a:prstGeom prst="rect">
            <a:avLst/>
          </a:prstGeom>
          <a:noFill/>
        </p:spPr>
        <p:txBody>
          <a:bodyPr wrap="square" lIns="0" rIns="0" tIns="0" bIns="0">
            <a:spAutoFit/>
          </a:bodyPr>
          <a:lstStyle/>
          <a:p>
            <a:pPr>
              <a:spcAft>
                <a:spcPts val="300"/>
              </a:spcAft>
            </a:pPr>
            <a:r>
              <a:rPr sz="1200" b="0" i="0" spc="100">
                <a:solidFill>
                  <a:srgbClr val="C4C9AC"/>
                </a:solidFill>
                <a:latin typeface="JetBrains Mono"/>
              </a:rPr>
              <a:t>PROJECT LEAD: [NAME]</a:t>
            </a:r>
          </a:p>
          <a:p>
            <a:pPr>
              <a:spcAft>
                <a:spcPts val="300"/>
              </a:spcAft>
            </a:pPr>
            <a:r>
              <a:rPr sz="1200" b="0" i="0" spc="100">
                <a:solidFill>
                  <a:srgbClr val="C4C9AC"/>
                </a:solidFill>
                <a:latin typeface="JetBrains Mono"/>
              </a:rPr>
              <a:t>REPO: WEBNXT-2030/XGAMEFI · BRANCH DEVELOP</a:t>
            </a:r>
          </a:p>
          <a:p>
            <a:pPr>
              <a:spcAft>
                <a:spcPts val="300"/>
              </a:spcAft>
            </a:pPr>
            <a:r>
              <a:rPr sz="1200" b="0" i="0" spc="100">
                <a:solidFill>
                  <a:srgbClr val="ABD600"/>
                </a:solidFill>
                <a:latin typeface="JetBrains Mono"/>
              </a:rPr>
              <a:t>SPEC.md V1: FEATURE-COMPLETE · CI GREEN · STAGING 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C3F400"/>
                </a:solidFill>
                <a:latin typeface="JetBrains Mono"/>
              </a:rPr>
              <a:t>01 // PROBLEM</a:t>
            </a:r>
          </a:p>
        </p:txBody>
      </p:sp>
      <p:sp>
        <p:nvSpPr>
          <p:cNvPr id="5" name="Rectangle 4"/>
          <p:cNvSpPr/>
          <p:nvPr/>
        </p:nvSpPr>
        <p:spPr>
          <a:xfrm>
            <a:off x="548640" y="749808"/>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Every studio rebuilds the same plumbing</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3080"/>
            <a:ext cx="10424160" cy="548640"/>
          </a:xfrm>
          <a:prstGeom prst="rect">
            <a:avLst/>
          </a:prstGeom>
          <a:noFill/>
        </p:spPr>
        <p:txBody>
          <a:bodyPr wrap="square" lIns="0" rIns="0" tIns="0" bIns="0">
            <a:spAutoFit/>
          </a:bodyPr>
          <a:lstStyle/>
          <a:p>
            <a:r>
              <a:rPr sz="1550" b="0" i="1">
                <a:solidFill>
                  <a:srgbClr val="C4C9AC"/>
                </a:solidFill>
                <a:latin typeface="Space Grotesk"/>
              </a:rPr>
              <a:t>Checkout, shop, delivery, fraud — none of it is the game, and it's rebuilt from scratch every time.</a:t>
            </a:r>
          </a:p>
        </p:txBody>
      </p:sp>
      <p:sp>
        <p:nvSpPr>
          <p:cNvPr id="9" name="TextBox 8"/>
          <p:cNvSpPr txBox="1"/>
          <p:nvPr/>
        </p:nvSpPr>
        <p:spPr>
          <a:xfrm>
            <a:off x="548640" y="2514600"/>
            <a:ext cx="10424160" cy="4206240"/>
          </a:xfrm>
          <a:prstGeom prst="rect">
            <a:avLst/>
          </a:prstGeom>
          <a:noFill/>
        </p:spPr>
        <p:txBody>
          <a:bodyPr wrap="square" lIns="0" rIns="0" tIns="0" bIns="0">
            <a:spAutoFit/>
          </a:bodyPr>
          <a:lstStyle/>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Building a payment rail, shop UI, and delivery pipeline is expensive, slow, and brittle — before a studio sells a single skin.</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Players pay the price too: per-game checkout flows, weak security, no resale, no portable wallet identity.</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Web3 gaming promised ownership, but today it mostly delivers friction — not a real checkout.</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None of this touches the Stellar network at meaningful scale — fragmented, per-studio effort means fragmented, low on-chain volume.</a:t>
            </a:r>
          </a:p>
        </p:txBody>
      </p:sp>
      <p:sp>
        <p:nvSpPr>
          <p:cNvPr id="10" name="TextBox 9"/>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1" name="TextBox 10"/>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C3F400"/>
                </a:solidFill>
                <a:latin typeface="JetBrains Mono"/>
              </a:rPr>
              <a:t>02 // SOLUTION</a:t>
            </a:r>
          </a:p>
        </p:txBody>
      </p:sp>
      <p:sp>
        <p:nvSpPr>
          <p:cNvPr id="5" name="Rectangle 4"/>
          <p:cNvSpPr/>
          <p:nvPr/>
        </p:nvSpPr>
        <p:spPr>
          <a:xfrm>
            <a:off x="548640" y="749808"/>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The commerce layer between a game's items and its players</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10424160" cy="4206240"/>
          </a:xfrm>
          <a:prstGeom prst="rect">
            <a:avLst/>
          </a:prstGeom>
          <a:noFill/>
        </p:spPr>
        <p:txBody>
          <a:bodyPr wrap="square" lIns="0" rIns="0" tIns="0" bIns="0">
            <a:spAutoFit/>
          </a:bodyPr>
          <a:lstStyle/>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Connect once: pull items from a studio's API, or push via a signed webhook — get a branded shop at /s/[slug].</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Pay with any Stellar wallet: one-click sign-in (Freighter today), no password, no account creation.</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Every payment verified on-chain before anything moves — destination, asset, amount, memo, never the client's word.</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Instant net payout to the studio, automatic item delivery, P2P resale, referrals, and promotions — all in a tamper-evident ledger.</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Full studio self-service: branding, payout wallet, API keys, and webhook configuration from one dashboard.</a:t>
            </a:r>
          </a:p>
        </p:txBody>
      </p:sp>
      <p:sp>
        <p:nvSpPr>
          <p:cNvPr id="9" name="TextBox 8"/>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0" name="TextBox 9"/>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FE00FE"/>
                </a:solidFill>
                <a:latin typeface="JetBrains Mono"/>
              </a:rPr>
              <a:t>03 // DEMO</a:t>
            </a:r>
          </a:p>
        </p:txBody>
      </p:sp>
      <p:sp>
        <p:nvSpPr>
          <p:cNvPr id="5" name="Rectangle 4"/>
          <p:cNvSpPr/>
          <p:nvPr/>
        </p:nvSpPr>
        <p:spPr>
          <a:xfrm>
            <a:off x="548640" y="749808"/>
            <a:ext cx="320040" cy="25400"/>
          </a:xfrm>
          <a:prstGeom prst="rect">
            <a:avLst/>
          </a:prstGeom>
          <a:solidFill>
            <a:srgbClr val="FE0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Browse → pay → get your item, live</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10424160" cy="4206240"/>
          </a:xfrm>
          <a:prstGeom prst="rect">
            <a:avLst/>
          </a:prstGeom>
          <a:noFill/>
        </p:spPr>
        <p:txBody>
          <a:bodyPr wrap="square" lIns="0" rIns="0" tIns="0" bIns="0">
            <a:spAutoFit/>
          </a:bodyPr>
          <a:lstStyle/>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Open the Gridlock Games storefront at /s/gridlock — branded per studio.</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Connect a wallet, sign in with one click — player session, no password.</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Pick the Sword Skin @ 1 USDT — checkout renders a QR + one-tap pay button.</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Player pays → platform verifies on Stellar → Order PAID → payout + delivery fire.</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Game grants the item → live status feed shows “payment in → item delivered” in real time.</a:t>
            </a:r>
          </a:p>
        </p:txBody>
      </p:sp>
      <p:sp>
        <p:nvSpPr>
          <p:cNvPr id="9" name="Freeform 8"/>
          <p:cNvSpPr/>
          <p:nvPr/>
        </p:nvSpPr>
        <p:spPr>
          <a:xfrm>
            <a:off x="548640" y="5257800"/>
            <a:ext cx="10424160" cy="777240"/>
          </a:xfrm>
          <a:custGeom>
            <a:avLst/>
            <a:gdLst/>
            <a:ahLst/>
            <a:cxnLst/>
            <a:rect l="l" t="t" r="r" b="b"/>
            <a:pathLst>
              <a:path w="10424160" h="777240">
                <a:moveTo>
                  <a:pt x="0" y="0"/>
                </a:moveTo>
                <a:lnTo>
                  <a:pt x="10424160" y="0"/>
                </a:lnTo>
                <a:lnTo>
                  <a:pt x="10424160" y="521208"/>
                </a:lnTo>
                <a:lnTo>
                  <a:pt x="10168128" y="777240"/>
                </a:lnTo>
                <a:lnTo>
                  <a:pt x="0" y="777240"/>
                </a:lnTo>
                <a:lnTo>
                  <a:pt x="0" y="0"/>
                </a:lnTo>
                <a:close/>
              </a:path>
            </a:pathLst>
          </a:custGeom>
          <a:solidFill>
            <a:srgbClr val="1C1B1B"/>
          </a:solidFill>
          <a:ln w="15875">
            <a:solidFill>
              <a:srgbClr val="FE00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40680"/>
            <a:ext cx="9875520" cy="457200"/>
          </a:xfrm>
          <a:prstGeom prst="rect">
            <a:avLst/>
          </a:prstGeom>
          <a:noFill/>
        </p:spPr>
        <p:txBody>
          <a:bodyPr wrap="square" lIns="0" rIns="0" tIns="0" bIns="0">
            <a:spAutoFit/>
          </a:bodyPr>
          <a:lstStyle/>
          <a:p>
            <a:r>
              <a:rPr sz="1250" b="0" i="0" spc="60">
                <a:solidFill>
                  <a:srgbClr val="FE00FE"/>
                </a:solidFill>
                <a:latin typeface="JetBrains Mono"/>
              </a:rPr>
              <a:t>[ DEMO VIDEO PLACEHOLDER — 60-90s: open /s/gridlock → connect → pay → PAID → DELIVERED ]</a:t>
            </a:r>
          </a:p>
        </p:txBody>
      </p:sp>
      <p:sp>
        <p:nvSpPr>
          <p:cNvPr id="11" name="TextBox 10"/>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2" name="TextBox 11"/>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C3F400"/>
                </a:solidFill>
                <a:latin typeface="JetBrains Mono"/>
              </a:rPr>
              <a:t>04 // HOW IT WORKS</a:t>
            </a:r>
          </a:p>
        </p:txBody>
      </p:sp>
      <p:sp>
        <p:nvSpPr>
          <p:cNvPr id="5" name="Rectangle 4"/>
          <p:cNvSpPr/>
          <p:nvPr/>
        </p:nvSpPr>
        <p:spPr>
          <a:xfrm>
            <a:off x="548640" y="749808"/>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A hands-off pipeline, verified at every step</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10424160" cy="4206240"/>
          </a:xfrm>
          <a:prstGeom prst="rect">
            <a:avLst/>
          </a:prstGeom>
          <a:noFill/>
        </p:spPr>
        <p:txBody>
          <a:bodyPr wrap="square" lIns="0" rIns="0" tIns="0" bIns="0">
            <a:spAutoFit/>
          </a:bodyPr>
          <a:lstStyle/>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One deployment, one branded shop per studio — every query scoped by studioId, tenant isolation enforced.</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Payments verified, not trusted: nothing advances until Stellar confirms the transaction.</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Delivery is automatic and durable — a dropped connection never loses an order; background workers retry.</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One source of truth for money: fees, payouts, refunds, and settlement state live in one tested module.</a:t>
            </a:r>
          </a:p>
          <a:p>
            <a:pPr>
              <a:lnSpc>
                <a:spcPct val="105000"/>
              </a:lnSpc>
              <a:spcAft>
                <a:spcPts val="800"/>
              </a:spcAft>
            </a:pPr>
            <a:r>
              <a:rPr sz="1650" b="1" i="0">
                <a:solidFill>
                  <a:srgbClr val="C3F400"/>
                </a:solidFill>
                <a:latin typeface="JetBrains Mono"/>
              </a:rPr>
              <a:t>▸  </a:t>
            </a:r>
            <a:r>
              <a:rPr sz="1650" b="0" i="0">
                <a:solidFill>
                  <a:srgbClr val="E5E2E1"/>
                </a:solidFill>
                <a:latin typeface="Space Grotesk"/>
              </a:rPr>
              <a:t>Every sale, payout, resale, and refund is written to an append-only ledger a studio can audit.</a:t>
            </a:r>
          </a:p>
        </p:txBody>
      </p:sp>
      <p:sp>
        <p:nvSpPr>
          <p:cNvPr id="9" name="TextBox 8"/>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0" name="TextBox 9"/>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7DF4FF"/>
                </a:solidFill>
                <a:latin typeface="JetBrains Mono"/>
              </a:rPr>
              <a:t>05 // IMPACT</a:t>
            </a:r>
          </a:p>
        </p:txBody>
      </p:sp>
      <p:sp>
        <p:nvSpPr>
          <p:cNvPr id="5" name="Rectangle 4"/>
          <p:cNvSpPr/>
          <p:nvPr/>
        </p:nvSpPr>
        <p:spPr>
          <a:xfrm>
            <a:off x="548640" y="749808"/>
            <a:ext cx="320040" cy="25400"/>
          </a:xfrm>
          <a:prstGeom prst="rect">
            <a:avLst/>
          </a:prstGeom>
          <a:solidFill>
            <a:srgbClr val="7D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Impact to the Stellar ecosystem</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10424160" cy="4206240"/>
          </a:xfrm>
          <a:prstGeom prst="rect">
            <a:avLst/>
          </a:prstGeom>
          <a:noFill/>
        </p:spPr>
        <p:txBody>
          <a:bodyPr wrap="square" lIns="0" rIns="0" tIns="0" bIns="0">
            <a:spAutoFit/>
          </a:bodyPr>
          <a:lstStyle/>
          <a:p>
            <a:pPr>
              <a:lnSpc>
                <a:spcPct val="105000"/>
              </a:lnSpc>
              <a:spcAft>
                <a:spcPts val="800"/>
              </a:spcAft>
            </a:pPr>
            <a:r>
              <a:rPr sz="1650" b="1" i="0">
                <a:solidFill>
                  <a:srgbClr val="7DF4FF"/>
                </a:solidFill>
                <a:latin typeface="JetBrains Mono"/>
              </a:rPr>
              <a:t>▸  </a:t>
            </a:r>
            <a:r>
              <a:rPr sz="1650" b="0" i="0">
                <a:solidFill>
                  <a:srgbClr val="E5E2E1"/>
                </a:solidFill>
                <a:latin typeface="Space Grotesk"/>
              </a:rPr>
              <a:t>Every purchase, payout, P2P escrow release, and referral reward is a real, verified Stellar transaction — not a wrapper over a centralized ledger.</a:t>
            </a:r>
          </a:p>
          <a:p>
            <a:pPr>
              <a:lnSpc>
                <a:spcPct val="105000"/>
              </a:lnSpc>
              <a:spcAft>
                <a:spcPts val="800"/>
              </a:spcAft>
            </a:pPr>
            <a:r>
              <a:rPr sz="1650" b="1" i="0">
                <a:solidFill>
                  <a:srgbClr val="7DF4FF"/>
                </a:solidFill>
                <a:latin typeface="JetBrains Mono"/>
              </a:rPr>
              <a:t>▸  </a:t>
            </a:r>
            <a:r>
              <a:rPr sz="1650" b="0" i="0">
                <a:solidFill>
                  <a:srgbClr val="E5E2E1"/>
                </a:solidFill>
                <a:latin typeface="Space Grotesk"/>
              </a:rPr>
              <a:t>A repeatable, non-speculative, retail-volume use case: microtransaction-scale in-game commerce on Horizon/RPC at production traffic patterns.</a:t>
            </a:r>
          </a:p>
          <a:p>
            <a:pPr>
              <a:lnSpc>
                <a:spcPct val="105000"/>
              </a:lnSpc>
              <a:spcAft>
                <a:spcPts val="800"/>
              </a:spcAft>
            </a:pPr>
            <a:r>
              <a:rPr sz="1650" b="1" i="0">
                <a:solidFill>
                  <a:srgbClr val="7DF4FF"/>
                </a:solidFill>
                <a:latin typeface="JetBrains Mono"/>
              </a:rPr>
              <a:t>▸  </a:t>
            </a:r>
            <a:r>
              <a:rPr sz="1650" b="0" i="0">
                <a:solidFill>
                  <a:srgbClr val="E5E2E1"/>
                </a:solidFill>
                <a:latin typeface="Space Grotesk"/>
              </a:rPr>
              <a:t>Expands Stellar's footprint in gaming beyond wallets and DEX trading into everyday consumer payments.</a:t>
            </a:r>
          </a:p>
          <a:p>
            <a:pPr>
              <a:lnSpc>
                <a:spcPct val="105000"/>
              </a:lnSpc>
              <a:spcAft>
                <a:spcPts val="800"/>
              </a:spcAft>
            </a:pPr>
            <a:r>
              <a:rPr sz="1650" b="1" i="0">
                <a:solidFill>
                  <a:srgbClr val="7DF4FF"/>
                </a:solidFill>
                <a:latin typeface="JetBrains Mono"/>
              </a:rPr>
              <a:t>▸  </a:t>
            </a:r>
            <a:r>
              <a:rPr sz="1650" b="0" i="0">
                <a:solidFill>
                  <a:srgbClr val="E5E2E1"/>
                </a:solidFill>
                <a:latin typeface="Space Grotesk"/>
              </a:rPr>
              <a:t>Near-instant settlement and a materially lower take-rate than card processors or platform stores (often 30% + weeks-long holds).</a:t>
            </a:r>
          </a:p>
          <a:p>
            <a:pPr>
              <a:lnSpc>
                <a:spcPct val="105000"/>
              </a:lnSpc>
              <a:spcAft>
                <a:spcPts val="800"/>
              </a:spcAft>
            </a:pPr>
            <a:r>
              <a:rPr sz="1650" b="1" i="0">
                <a:solidFill>
                  <a:srgbClr val="7DF4FF"/>
                </a:solidFill>
                <a:latin typeface="JetBrains Mono"/>
              </a:rPr>
              <a:t>▸  </a:t>
            </a:r>
            <a:r>
              <a:rPr sz="1650" b="0" i="0">
                <a:solidFill>
                  <a:srgbClr val="E5E2E1"/>
                </a:solidFill>
                <a:latin typeface="Space Grotesk"/>
              </a:rPr>
              <a:t>Every studio onboarded multiplies on-chain volume — a per-transaction platform fee aligns our growth with the network's.</a:t>
            </a:r>
          </a:p>
        </p:txBody>
      </p:sp>
      <p:sp>
        <p:nvSpPr>
          <p:cNvPr id="9" name="TextBox 8"/>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0" name="TextBox 9"/>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7DF4FF"/>
                </a:solidFill>
                <a:latin typeface="JetBrains Mono"/>
              </a:rPr>
              <a:t>06 // ECOSYSTEM PLAN</a:t>
            </a:r>
          </a:p>
        </p:txBody>
      </p:sp>
      <p:sp>
        <p:nvSpPr>
          <p:cNvPr id="5" name="Rectangle 4"/>
          <p:cNvSpPr/>
          <p:nvPr/>
        </p:nvSpPr>
        <p:spPr>
          <a:xfrm>
            <a:off x="548640" y="749808"/>
            <a:ext cx="320040" cy="25400"/>
          </a:xfrm>
          <a:prstGeom prst="rect">
            <a:avLst/>
          </a:prstGeom>
          <a:solidFill>
            <a:srgbClr val="7D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Plan to integrate the Stellar ecosystem</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10424160" cy="4206240"/>
          </a:xfrm>
          <a:prstGeom prst="rect">
            <a:avLst/>
          </a:prstGeom>
          <a:noFill/>
        </p:spPr>
        <p:txBody>
          <a:bodyPr wrap="square" lIns="0" rIns="0" tIns="0" bIns="0">
            <a:spAutoFit/>
          </a:bodyPr>
          <a:lstStyle/>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Fiat on-ramp via SEP-24 anchors (+SEP-38 quotes): pay with a card, inline at checkout — no crypto required to start.</a:t>
            </a:r>
          </a:p>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Passkey / smart-wallet onboarding (WebAuthn signers + Passkey Kit) with Launchtube-sponsored fees — zero seed phrase, zero XLM to begin.</a:t>
            </a:r>
          </a:p>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Multi-anchor, multi-stablecoin support (USDC, EURC, MGUSD via the Stellar Anchor Directory) beyond one demo asset.</a:t>
            </a:r>
          </a:p>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On-chain item ownership via Soroban NFTs (SEP-50-track, OpenZeppelin Stellar Contracts) for trustless P2P trading.</a:t>
            </a:r>
          </a:p>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Multi-asset checkout via path payments / DEX (Soroswap) — pay with any Stellar asset already held.</a:t>
            </a:r>
          </a:p>
          <a:p>
            <a:pPr>
              <a:lnSpc>
                <a:spcPct val="105000"/>
              </a:lnSpc>
              <a:spcAft>
                <a:spcPts val="600"/>
              </a:spcAft>
            </a:pPr>
            <a:r>
              <a:rPr sz="1500" b="1" i="0">
                <a:solidFill>
                  <a:srgbClr val="7DF4FF"/>
                </a:solidFill>
                <a:latin typeface="JetBrains Mono"/>
              </a:rPr>
              <a:t>▸  </a:t>
            </a:r>
            <a:r>
              <a:rPr sz="1500" b="0" i="0">
                <a:solidFill>
                  <a:srgbClr val="E5E2E1"/>
                </a:solidFill>
                <a:latin typeface="Space Grotesk"/>
              </a:rPr>
              <a:t>SEP-10 Web Authentication + SEP-31 cross-border studio payouts for full ecosystem interoperability.</a:t>
            </a:r>
          </a:p>
        </p:txBody>
      </p:sp>
      <p:sp>
        <p:nvSpPr>
          <p:cNvPr id="9" name="Freeform 8"/>
          <p:cNvSpPr/>
          <p:nvPr/>
        </p:nvSpPr>
        <p:spPr>
          <a:xfrm>
            <a:off x="548640" y="5760720"/>
            <a:ext cx="10424160" cy="457200"/>
          </a:xfrm>
          <a:custGeom>
            <a:avLst/>
            <a:gdLst/>
            <a:ahLst/>
            <a:cxnLst/>
            <a:rect l="l" t="t" r="r" b="b"/>
            <a:pathLst>
              <a:path w="10424160" h="457200">
                <a:moveTo>
                  <a:pt x="0" y="0"/>
                </a:moveTo>
                <a:lnTo>
                  <a:pt x="10424160" y="0"/>
                </a:lnTo>
                <a:lnTo>
                  <a:pt x="10424160" y="256032"/>
                </a:lnTo>
                <a:lnTo>
                  <a:pt x="10222992" y="457200"/>
                </a:lnTo>
                <a:lnTo>
                  <a:pt x="0" y="457200"/>
                </a:lnTo>
                <a:lnTo>
                  <a:pt x="0" y="0"/>
                </a:lnTo>
                <a:close/>
              </a:path>
            </a:pathLst>
          </a:custGeom>
          <a:solidFill>
            <a:srgbClr val="0E0E0E"/>
          </a:solidFill>
          <a:ln w="12700">
            <a:solidFill>
              <a:srgbClr val="444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870448"/>
            <a:ext cx="9875520" cy="320040"/>
          </a:xfrm>
          <a:prstGeom prst="rect">
            <a:avLst/>
          </a:prstGeom>
          <a:noFill/>
        </p:spPr>
        <p:txBody>
          <a:bodyPr wrap="square" lIns="0" rIns="0" tIns="0" bIns="0">
            <a:spAutoFit/>
          </a:bodyPr>
          <a:lstStyle/>
          <a:p>
            <a:r>
              <a:rPr sz="1100" b="0" i="0" spc="60">
                <a:solidFill>
                  <a:srgbClr val="C3F400"/>
                </a:solidFill>
                <a:latin typeface="JetBrains Mono"/>
              </a:rPr>
              <a:t>FULL DETAIL + REFERENCE LINKS  //  GITHUB ISSUE #137 — GROWTH &amp; STELLAR ECOSYSTEM INTEGRATION REPORT</a:t>
            </a:r>
          </a:p>
        </p:txBody>
      </p:sp>
      <p:sp>
        <p:nvSpPr>
          <p:cNvPr id="11" name="TextBox 10"/>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2" name="TextBox 11"/>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FE00FE"/>
                </a:solidFill>
                <a:latin typeface="JetBrains Mono"/>
              </a:rPr>
              <a:t>07 // GO-TO-MARKET</a:t>
            </a:r>
          </a:p>
        </p:txBody>
      </p:sp>
      <p:sp>
        <p:nvSpPr>
          <p:cNvPr id="5" name="Rectangle 4"/>
          <p:cNvSpPr/>
          <p:nvPr/>
        </p:nvSpPr>
        <p:spPr>
          <a:xfrm>
            <a:off x="548640" y="749808"/>
            <a:ext cx="320040" cy="25400"/>
          </a:xfrm>
          <a:prstGeom prst="rect">
            <a:avLst/>
          </a:prstGeom>
          <a:solidFill>
            <a:srgbClr val="FE0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GTM: Philippines → APAC → Global</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548640" y="1920240"/>
            <a:ext cx="3401568" cy="4160520"/>
          </a:xfrm>
          <a:custGeom>
            <a:avLst/>
            <a:gdLst/>
            <a:ahLst/>
            <a:cxnLst/>
            <a:rect l="l" t="t" r="r" b="b"/>
            <a:pathLst>
              <a:path w="3401568" h="4160520">
                <a:moveTo>
                  <a:pt x="0" y="0"/>
                </a:moveTo>
                <a:lnTo>
                  <a:pt x="3401568" y="0"/>
                </a:lnTo>
                <a:lnTo>
                  <a:pt x="3401568" y="3867912"/>
                </a:lnTo>
                <a:lnTo>
                  <a:pt x="3108960" y="4160520"/>
                </a:lnTo>
                <a:lnTo>
                  <a:pt x="0" y="4160520"/>
                </a:lnTo>
                <a:lnTo>
                  <a:pt x="0" y="0"/>
                </a:lnTo>
                <a:close/>
              </a:path>
            </a:pathLst>
          </a:custGeom>
          <a:solidFill>
            <a:srgbClr val="1C1B1B"/>
          </a:solidFill>
          <a:ln w="19050">
            <a:solidFill>
              <a:srgbClr val="C3F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057400"/>
            <a:ext cx="292608"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57984"/>
            <a:ext cx="3035808" cy="457200"/>
          </a:xfrm>
          <a:prstGeom prst="rect">
            <a:avLst/>
          </a:prstGeom>
          <a:noFill/>
        </p:spPr>
        <p:txBody>
          <a:bodyPr wrap="square" lIns="0" rIns="0" tIns="0" bIns="0">
            <a:spAutoFit/>
          </a:bodyPr>
          <a:lstStyle/>
          <a:p>
            <a:r>
              <a:rPr sz="1700" b="1" i="0" spc="80">
                <a:solidFill>
                  <a:srgbClr val="C3F400"/>
                </a:solidFill>
                <a:latin typeface="JetBrains Mono"/>
              </a:rPr>
              <a:t>PHILIPPINES</a:t>
            </a:r>
          </a:p>
        </p:txBody>
      </p:sp>
      <p:sp>
        <p:nvSpPr>
          <p:cNvPr id="11" name="TextBox 10"/>
          <p:cNvSpPr txBox="1"/>
          <p:nvPr/>
        </p:nvSpPr>
        <p:spPr>
          <a:xfrm>
            <a:off x="731520" y="2578608"/>
            <a:ext cx="3035808" cy="274320"/>
          </a:xfrm>
          <a:prstGeom prst="rect">
            <a:avLst/>
          </a:prstGeom>
          <a:noFill/>
        </p:spPr>
        <p:txBody>
          <a:bodyPr wrap="square" lIns="0" rIns="0" tIns="0" bIns="0">
            <a:spAutoFit/>
          </a:bodyPr>
          <a:lstStyle/>
          <a:p>
            <a:r>
              <a:rPr sz="1050" b="0" i="0" spc="100">
                <a:solidFill>
                  <a:srgbClr val="C4C9AC"/>
                </a:solidFill>
                <a:latin typeface="JetBrains Mono"/>
              </a:rPr>
              <a:t>BEACHHEAD</a:t>
            </a:r>
          </a:p>
        </p:txBody>
      </p:sp>
      <p:sp>
        <p:nvSpPr>
          <p:cNvPr id="12" name="TextBox 11"/>
          <p:cNvSpPr txBox="1"/>
          <p:nvPr/>
        </p:nvSpPr>
        <p:spPr>
          <a:xfrm>
            <a:off x="731520" y="2999232"/>
            <a:ext cx="3035808" cy="2926080"/>
          </a:xfrm>
          <a:prstGeom prst="rect">
            <a:avLst/>
          </a:prstGeom>
          <a:noFill/>
        </p:spPr>
        <p:txBody>
          <a:bodyPr wrap="square" lIns="0" rIns="0" tIns="0" bIns="0">
            <a:spAutoFit/>
          </a:bodyPr>
          <a:lstStyle/>
          <a:p>
            <a:pPr>
              <a:lnSpc>
                <a:spcPct val="103000"/>
              </a:lnSpc>
              <a:spcAft>
                <a:spcPts val="600"/>
              </a:spcAft>
            </a:pPr>
            <a:r>
              <a:rPr sz="1150" b="1" i="0">
                <a:solidFill>
                  <a:srgbClr val="C3F400"/>
                </a:solidFill>
                <a:latin typeface="JetBrains Mono"/>
              </a:rPr>
              <a:t>▸ </a:t>
            </a:r>
            <a:r>
              <a:rPr sz="1150" b="0" i="0">
                <a:solidFill>
                  <a:srgbClr val="E5E2E1"/>
                </a:solidFill>
                <a:latin typeface="Space Grotesk"/>
              </a:rPr>
              <a:t>Anchor partner Gridlock Games as the flagship live studio.</a:t>
            </a:r>
          </a:p>
          <a:p>
            <a:pPr>
              <a:lnSpc>
                <a:spcPct val="103000"/>
              </a:lnSpc>
              <a:spcAft>
                <a:spcPts val="600"/>
              </a:spcAft>
            </a:pPr>
            <a:r>
              <a:rPr sz="1150" b="1" i="0">
                <a:solidFill>
                  <a:srgbClr val="C3F400"/>
                </a:solidFill>
                <a:latin typeface="JetBrains Mono"/>
              </a:rPr>
              <a:t>▸ </a:t>
            </a:r>
            <a:r>
              <a:rPr sz="1150" b="0" i="0">
                <a:solidFill>
                  <a:srgbClr val="E5E2E1"/>
                </a:solidFill>
                <a:latin typeface="Space Grotesk"/>
              </a:rPr>
              <a:t>Tap the local indie / mobile dev community (IGDA PH, game jams, Discord).</a:t>
            </a:r>
          </a:p>
          <a:p>
            <a:pPr>
              <a:lnSpc>
                <a:spcPct val="103000"/>
              </a:lnSpc>
              <a:spcAft>
                <a:spcPts val="600"/>
              </a:spcAft>
            </a:pPr>
            <a:r>
              <a:rPr sz="1150" b="1" i="0">
                <a:solidFill>
                  <a:srgbClr val="C3F400"/>
                </a:solidFill>
                <a:latin typeface="JetBrains Mono"/>
              </a:rPr>
              <a:t>▸ </a:t>
            </a:r>
            <a:r>
              <a:rPr sz="1150" b="0" i="0">
                <a:solidFill>
                  <a:srgbClr val="E5E2E1"/>
                </a:solidFill>
                <a:latin typeface="Space Grotesk"/>
              </a:rPr>
              <a:t>Peso-friendly wallet UX — players already use GCash / Maya-style e-wallets.</a:t>
            </a:r>
          </a:p>
          <a:p>
            <a:pPr>
              <a:lnSpc>
                <a:spcPct val="103000"/>
              </a:lnSpc>
              <a:spcAft>
                <a:spcPts val="600"/>
              </a:spcAft>
            </a:pPr>
            <a:r>
              <a:rPr sz="1150" b="1" i="0">
                <a:solidFill>
                  <a:srgbClr val="C3F400"/>
                </a:solidFill>
                <a:latin typeface="JetBrains Mono"/>
              </a:rPr>
              <a:t>▸ </a:t>
            </a:r>
            <a:r>
              <a:rPr sz="1150" b="0" i="0">
                <a:solidFill>
                  <a:srgbClr val="E5E2E1"/>
                </a:solidFill>
                <a:latin typeface="Space Grotesk"/>
              </a:rPr>
              <a:t>Local anchor on/off-ramps lower the “buy crypto first” barrier.</a:t>
            </a:r>
          </a:p>
          <a:p>
            <a:pPr>
              <a:lnSpc>
                <a:spcPct val="103000"/>
              </a:lnSpc>
              <a:spcAft>
                <a:spcPts val="600"/>
              </a:spcAft>
            </a:pPr>
            <a:r>
              <a:rPr sz="1150" b="1" i="0">
                <a:solidFill>
                  <a:srgbClr val="C3F400"/>
                </a:solidFill>
                <a:latin typeface="JetBrains Mono"/>
              </a:rPr>
              <a:t>▸ </a:t>
            </a:r>
            <a:r>
              <a:rPr sz="1150" b="0" i="0">
                <a:solidFill>
                  <a:srgbClr val="E5E2E1"/>
                </a:solidFill>
                <a:latin typeface="Space Grotesk"/>
              </a:rPr>
              <a:t>Goal: onboard a pilot cohort of studios in the first two quarters.</a:t>
            </a:r>
          </a:p>
        </p:txBody>
      </p:sp>
      <p:sp>
        <p:nvSpPr>
          <p:cNvPr id="13" name="Freeform 12"/>
          <p:cNvSpPr/>
          <p:nvPr/>
        </p:nvSpPr>
        <p:spPr>
          <a:xfrm>
            <a:off x="4069080" y="1920240"/>
            <a:ext cx="3401568" cy="4160520"/>
          </a:xfrm>
          <a:custGeom>
            <a:avLst/>
            <a:gdLst/>
            <a:ahLst/>
            <a:cxnLst/>
            <a:rect l="l" t="t" r="r" b="b"/>
            <a:pathLst>
              <a:path w="3401568" h="4160520">
                <a:moveTo>
                  <a:pt x="0" y="0"/>
                </a:moveTo>
                <a:lnTo>
                  <a:pt x="3401568" y="0"/>
                </a:lnTo>
                <a:lnTo>
                  <a:pt x="3401568" y="3867912"/>
                </a:lnTo>
                <a:lnTo>
                  <a:pt x="3108960" y="4160520"/>
                </a:lnTo>
                <a:lnTo>
                  <a:pt x="0" y="4160520"/>
                </a:lnTo>
                <a:lnTo>
                  <a:pt x="0" y="0"/>
                </a:lnTo>
                <a:close/>
              </a:path>
            </a:pathLst>
          </a:custGeom>
          <a:solidFill>
            <a:srgbClr val="1C1B1B"/>
          </a:solidFill>
          <a:ln w="19050">
            <a:solidFill>
              <a:srgbClr val="7DF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2057400"/>
            <a:ext cx="292608" cy="25400"/>
          </a:xfrm>
          <a:prstGeom prst="rect">
            <a:avLst/>
          </a:prstGeom>
          <a:solidFill>
            <a:srgbClr val="7D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2157984"/>
            <a:ext cx="3035808" cy="457200"/>
          </a:xfrm>
          <a:prstGeom prst="rect">
            <a:avLst/>
          </a:prstGeom>
          <a:noFill/>
        </p:spPr>
        <p:txBody>
          <a:bodyPr wrap="square" lIns="0" rIns="0" tIns="0" bIns="0">
            <a:spAutoFit/>
          </a:bodyPr>
          <a:lstStyle/>
          <a:p>
            <a:r>
              <a:rPr sz="1700" b="1" i="0" spc="80">
                <a:solidFill>
                  <a:srgbClr val="7DF4FF"/>
                </a:solidFill>
                <a:latin typeface="JetBrains Mono"/>
              </a:rPr>
              <a:t>APAC</a:t>
            </a:r>
          </a:p>
        </p:txBody>
      </p:sp>
      <p:sp>
        <p:nvSpPr>
          <p:cNvPr id="16" name="TextBox 15"/>
          <p:cNvSpPr txBox="1"/>
          <p:nvPr/>
        </p:nvSpPr>
        <p:spPr>
          <a:xfrm>
            <a:off x="4251960" y="2578608"/>
            <a:ext cx="3035808" cy="274320"/>
          </a:xfrm>
          <a:prstGeom prst="rect">
            <a:avLst/>
          </a:prstGeom>
          <a:noFill/>
        </p:spPr>
        <p:txBody>
          <a:bodyPr wrap="square" lIns="0" rIns="0" tIns="0" bIns="0">
            <a:spAutoFit/>
          </a:bodyPr>
          <a:lstStyle/>
          <a:p>
            <a:r>
              <a:rPr sz="1050" b="0" i="0" spc="100">
                <a:solidFill>
                  <a:srgbClr val="C4C9AC"/>
                </a:solidFill>
                <a:latin typeface="JetBrains Mono"/>
              </a:rPr>
              <a:t>REGIONAL EXPANSION</a:t>
            </a:r>
          </a:p>
        </p:txBody>
      </p:sp>
      <p:sp>
        <p:nvSpPr>
          <p:cNvPr id="17" name="TextBox 16"/>
          <p:cNvSpPr txBox="1"/>
          <p:nvPr/>
        </p:nvSpPr>
        <p:spPr>
          <a:xfrm>
            <a:off x="4251960" y="2999232"/>
            <a:ext cx="3035808" cy="2926080"/>
          </a:xfrm>
          <a:prstGeom prst="rect">
            <a:avLst/>
          </a:prstGeom>
          <a:noFill/>
        </p:spPr>
        <p:txBody>
          <a:bodyPr wrap="square" lIns="0" rIns="0" tIns="0" bIns="0">
            <a:spAutoFit/>
          </a:bodyPr>
          <a:lstStyle/>
          <a:p>
            <a:pPr>
              <a:lnSpc>
                <a:spcPct val="103000"/>
              </a:lnSpc>
              <a:spcAft>
                <a:spcPts val="600"/>
              </a:spcAft>
            </a:pPr>
            <a:r>
              <a:rPr sz="1150" b="1" i="0">
                <a:solidFill>
                  <a:srgbClr val="7DF4FF"/>
                </a:solidFill>
                <a:latin typeface="JetBrains Mono"/>
              </a:rPr>
              <a:t>▸ </a:t>
            </a:r>
            <a:r>
              <a:rPr sz="1150" b="0" i="0">
                <a:solidFill>
                  <a:srgbClr val="E5E2E1"/>
                </a:solidFill>
                <a:latin typeface="Space Grotesk"/>
              </a:rPr>
              <a:t>Expand to Vietnam, Indonesia, Thailand — large mobile bases, strong wallet adoption.</a:t>
            </a:r>
          </a:p>
          <a:p>
            <a:pPr>
              <a:lnSpc>
                <a:spcPct val="103000"/>
              </a:lnSpc>
              <a:spcAft>
                <a:spcPts val="600"/>
              </a:spcAft>
            </a:pPr>
            <a:r>
              <a:rPr sz="1150" b="1" i="0">
                <a:solidFill>
                  <a:srgbClr val="7DF4FF"/>
                </a:solidFill>
                <a:latin typeface="JetBrains Mono"/>
              </a:rPr>
              <a:t>▸ </a:t>
            </a:r>
            <a:r>
              <a:rPr sz="1150" b="0" i="0">
                <a:solidFill>
                  <a:srgbClr val="E5E2E1"/>
                </a:solidFill>
                <a:latin typeface="Space Grotesk"/>
              </a:rPr>
              <a:t>Localize storefront currency / branding; use regional anchors for local fiat rails.</a:t>
            </a:r>
          </a:p>
          <a:p>
            <a:pPr>
              <a:lnSpc>
                <a:spcPct val="103000"/>
              </a:lnSpc>
              <a:spcAft>
                <a:spcPts val="600"/>
              </a:spcAft>
            </a:pPr>
            <a:r>
              <a:rPr sz="1150" b="1" i="0">
                <a:solidFill>
                  <a:srgbClr val="7DF4FF"/>
                </a:solidFill>
                <a:latin typeface="JetBrains Mono"/>
              </a:rPr>
              <a:t>▸ </a:t>
            </a:r>
            <a:r>
              <a:rPr sz="1150" b="0" i="0">
                <a:solidFill>
                  <a:srgbClr val="E5E2E1"/>
                </a:solidFill>
                <a:latin typeface="Space Grotesk"/>
              </a:rPr>
              <a:t>Partner with regional publishers / game-SDK platforms exploring web3.</a:t>
            </a:r>
          </a:p>
          <a:p>
            <a:pPr>
              <a:lnSpc>
                <a:spcPct val="103000"/>
              </a:lnSpc>
              <a:spcAft>
                <a:spcPts val="600"/>
              </a:spcAft>
            </a:pPr>
            <a:r>
              <a:rPr sz="1150" b="1" i="0">
                <a:solidFill>
                  <a:srgbClr val="7DF4FF"/>
                </a:solidFill>
                <a:latin typeface="JetBrains Mono"/>
              </a:rPr>
              <a:t>▸ </a:t>
            </a:r>
            <a:r>
              <a:rPr sz="1150" b="0" i="0">
                <a:solidFill>
                  <a:srgbClr val="E5E2E1"/>
                </a:solidFill>
                <a:latin typeface="Space Grotesk"/>
              </a:rPr>
              <a:t>Reuse the PH playbook: familiar wallet habits cut onboarding friction region-wide.</a:t>
            </a:r>
          </a:p>
        </p:txBody>
      </p:sp>
      <p:sp>
        <p:nvSpPr>
          <p:cNvPr id="18" name="Freeform 17"/>
          <p:cNvSpPr/>
          <p:nvPr/>
        </p:nvSpPr>
        <p:spPr>
          <a:xfrm>
            <a:off x="7589520" y="1920240"/>
            <a:ext cx="3401568" cy="4160520"/>
          </a:xfrm>
          <a:custGeom>
            <a:avLst/>
            <a:gdLst/>
            <a:ahLst/>
            <a:cxnLst/>
            <a:rect l="l" t="t" r="r" b="b"/>
            <a:pathLst>
              <a:path w="3401568" h="4160520">
                <a:moveTo>
                  <a:pt x="0" y="0"/>
                </a:moveTo>
                <a:lnTo>
                  <a:pt x="3401568" y="0"/>
                </a:lnTo>
                <a:lnTo>
                  <a:pt x="3401568" y="3867912"/>
                </a:lnTo>
                <a:lnTo>
                  <a:pt x="3108960" y="4160520"/>
                </a:lnTo>
                <a:lnTo>
                  <a:pt x="0" y="4160520"/>
                </a:lnTo>
                <a:lnTo>
                  <a:pt x="0" y="0"/>
                </a:lnTo>
                <a:close/>
              </a:path>
            </a:pathLst>
          </a:custGeom>
          <a:solidFill>
            <a:srgbClr val="1C1B1B"/>
          </a:solidFill>
          <a:ln w="19050">
            <a:solidFill>
              <a:srgbClr val="FE00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2057400"/>
            <a:ext cx="292608" cy="25400"/>
          </a:xfrm>
          <a:prstGeom prst="rect">
            <a:avLst/>
          </a:prstGeom>
          <a:solidFill>
            <a:srgbClr val="FE0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157984"/>
            <a:ext cx="3035808" cy="457200"/>
          </a:xfrm>
          <a:prstGeom prst="rect">
            <a:avLst/>
          </a:prstGeom>
          <a:noFill/>
        </p:spPr>
        <p:txBody>
          <a:bodyPr wrap="square" lIns="0" rIns="0" tIns="0" bIns="0">
            <a:spAutoFit/>
          </a:bodyPr>
          <a:lstStyle/>
          <a:p>
            <a:r>
              <a:rPr sz="1700" b="1" i="0" spc="80">
                <a:solidFill>
                  <a:srgbClr val="FE00FE"/>
                </a:solidFill>
                <a:latin typeface="JetBrains Mono"/>
              </a:rPr>
              <a:t>GLOBAL</a:t>
            </a:r>
          </a:p>
        </p:txBody>
      </p:sp>
      <p:sp>
        <p:nvSpPr>
          <p:cNvPr id="21" name="TextBox 20"/>
          <p:cNvSpPr txBox="1"/>
          <p:nvPr/>
        </p:nvSpPr>
        <p:spPr>
          <a:xfrm>
            <a:off x="7772400" y="2578608"/>
            <a:ext cx="3035808" cy="274320"/>
          </a:xfrm>
          <a:prstGeom prst="rect">
            <a:avLst/>
          </a:prstGeom>
          <a:noFill/>
        </p:spPr>
        <p:txBody>
          <a:bodyPr wrap="square" lIns="0" rIns="0" tIns="0" bIns="0">
            <a:spAutoFit/>
          </a:bodyPr>
          <a:lstStyle/>
          <a:p>
            <a:r>
              <a:rPr sz="1050" b="0" i="0" spc="100">
                <a:solidFill>
                  <a:srgbClr val="C4C9AC"/>
                </a:solidFill>
                <a:latin typeface="JetBrains Mono"/>
              </a:rPr>
              <a:t>SCALE VIA ECOSYSTEM</a:t>
            </a:r>
          </a:p>
        </p:txBody>
      </p:sp>
      <p:sp>
        <p:nvSpPr>
          <p:cNvPr id="22" name="TextBox 21"/>
          <p:cNvSpPr txBox="1"/>
          <p:nvPr/>
        </p:nvSpPr>
        <p:spPr>
          <a:xfrm>
            <a:off x="7772400" y="2999232"/>
            <a:ext cx="3035808" cy="2926080"/>
          </a:xfrm>
          <a:prstGeom prst="rect">
            <a:avLst/>
          </a:prstGeom>
          <a:noFill/>
        </p:spPr>
        <p:txBody>
          <a:bodyPr wrap="square" lIns="0" rIns="0" tIns="0" bIns="0">
            <a:spAutoFit/>
          </a:bodyPr>
          <a:lstStyle/>
          <a:p>
            <a:pPr>
              <a:lnSpc>
                <a:spcPct val="103000"/>
              </a:lnSpc>
              <a:spcAft>
                <a:spcPts val="600"/>
              </a:spcAft>
            </a:pPr>
            <a:r>
              <a:rPr sz="1150" b="1" i="0">
                <a:solidFill>
                  <a:srgbClr val="FE00FE"/>
                </a:solidFill>
                <a:latin typeface="JetBrains Mono"/>
              </a:rPr>
              <a:t>▸ </a:t>
            </a:r>
            <a:r>
              <a:rPr sz="1150" b="0" i="0">
                <a:solidFill>
                  <a:srgbClr val="E5E2E1"/>
                </a:solidFill>
                <a:latin typeface="Space Grotesk"/>
              </a:rPr>
              <a:t>Reach Western indie studios via dev Discords, game jams, the SCF network.</a:t>
            </a:r>
          </a:p>
          <a:p>
            <a:pPr>
              <a:lnSpc>
                <a:spcPct val="103000"/>
              </a:lnSpc>
              <a:spcAft>
                <a:spcPts val="600"/>
              </a:spcAft>
            </a:pPr>
            <a:r>
              <a:rPr sz="1150" b="1" i="0">
                <a:solidFill>
                  <a:srgbClr val="FE00FE"/>
                </a:solidFill>
                <a:latin typeface="JetBrains Mono"/>
              </a:rPr>
              <a:t>▸ </a:t>
            </a:r>
            <a:r>
              <a:rPr sz="1150" b="0" i="0">
                <a:solidFill>
                  <a:srgbClr val="E5E2E1"/>
                </a:solidFill>
                <a:latin typeface="Space Grotesk"/>
              </a:rPr>
              <a:t>Position as “commerce infra for game-item economies on Stellar”; SCF Build Award as GTM fuel.</a:t>
            </a:r>
          </a:p>
          <a:p>
            <a:pPr>
              <a:lnSpc>
                <a:spcPct val="103000"/>
              </a:lnSpc>
              <a:spcAft>
                <a:spcPts val="600"/>
              </a:spcAft>
            </a:pPr>
            <a:r>
              <a:rPr sz="1150" b="1" i="0">
                <a:solidFill>
                  <a:srgbClr val="FE00FE"/>
                </a:solidFill>
                <a:latin typeface="JetBrains Mono"/>
              </a:rPr>
              <a:t>▸ </a:t>
            </a:r>
            <a:r>
              <a:rPr sz="1150" b="0" i="0">
                <a:solidFill>
                  <a:srgbClr val="E5E2E1"/>
                </a:solidFill>
                <a:latin typeface="Space Grotesk"/>
              </a:rPr>
              <a:t>Multi-stablecoin support (USDC / EURC) removes single-region asset dependency.</a:t>
            </a:r>
          </a:p>
          <a:p>
            <a:pPr>
              <a:lnSpc>
                <a:spcPct val="103000"/>
              </a:lnSpc>
              <a:spcAft>
                <a:spcPts val="600"/>
              </a:spcAft>
            </a:pPr>
            <a:r>
              <a:rPr sz="1150" b="1" i="0">
                <a:solidFill>
                  <a:srgbClr val="FE00FE"/>
                </a:solidFill>
                <a:latin typeface="JetBrains Mono"/>
              </a:rPr>
              <a:t>▸ </a:t>
            </a:r>
            <a:r>
              <a:rPr sz="1150" b="0" i="0">
                <a:solidFill>
                  <a:srgbClr val="E5E2E1"/>
                </a:solidFill>
                <a:latin typeface="Space Grotesk"/>
              </a:rPr>
              <a:t>Soroban NFT interoperability = network-effect moat: cross-game secondary markets.</a:t>
            </a:r>
          </a:p>
        </p:txBody>
      </p:sp>
      <p:sp>
        <p:nvSpPr>
          <p:cNvPr id="23" name="TextBox 22"/>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24" name="TextBox 23"/>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175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1750"/>
            <a:ext cx="640080" cy="31750"/>
          </a:xfrm>
          <a:prstGeom prst="rect">
            <a:avLst/>
          </a:prstGeom>
          <a:solidFill>
            <a:srgbClr val="ABD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8229600" cy="320040"/>
          </a:xfrm>
          <a:prstGeom prst="rect">
            <a:avLst/>
          </a:prstGeom>
          <a:noFill/>
        </p:spPr>
        <p:txBody>
          <a:bodyPr wrap="square" lIns="0" rIns="0" tIns="0" bIns="0">
            <a:spAutoFit/>
          </a:bodyPr>
          <a:lstStyle/>
          <a:p>
            <a:r>
              <a:rPr sz="1250" b="1" i="0" spc="120">
                <a:solidFill>
                  <a:srgbClr val="C3F400"/>
                </a:solidFill>
                <a:latin typeface="JetBrains Mono"/>
              </a:rPr>
              <a:t>08 // ROADMAP</a:t>
            </a:r>
          </a:p>
        </p:txBody>
      </p:sp>
      <p:sp>
        <p:nvSpPr>
          <p:cNvPr id="5" name="Rectangle 4"/>
          <p:cNvSpPr/>
          <p:nvPr/>
        </p:nvSpPr>
        <p:spPr>
          <a:xfrm>
            <a:off x="548640" y="749808"/>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0607040" cy="914400"/>
          </a:xfrm>
          <a:prstGeom prst="rect">
            <a:avLst/>
          </a:prstGeom>
          <a:noFill/>
        </p:spPr>
        <p:txBody>
          <a:bodyPr wrap="square" lIns="0" rIns="0" tIns="0" bIns="0">
            <a:spAutoFit/>
          </a:bodyPr>
          <a:lstStyle/>
          <a:p>
            <a:r>
              <a:rPr sz="3400" b="1" i="0">
                <a:solidFill>
                  <a:srgbClr val="E5E2E1"/>
                </a:solidFill>
                <a:latin typeface="Space Grotesk"/>
              </a:rPr>
              <a:t>What's next</a:t>
            </a:r>
          </a:p>
        </p:txBody>
      </p:sp>
      <p:sp>
        <p:nvSpPr>
          <p:cNvPr id="7" name="Rectangle 6"/>
          <p:cNvSpPr/>
          <p:nvPr/>
        </p:nvSpPr>
        <p:spPr>
          <a:xfrm>
            <a:off x="548640" y="1664208"/>
            <a:ext cx="128016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10424160" cy="4206240"/>
          </a:xfrm>
          <a:prstGeom prst="rect">
            <a:avLst/>
          </a:prstGeom>
          <a:noFill/>
        </p:spPr>
        <p:txBody>
          <a:bodyPr wrap="square" lIns="0" rIns="0" tIns="0" bIns="0">
            <a:spAutoFit/>
          </a:bodyPr>
          <a:lstStyle/>
          <a:p>
            <a:pPr>
              <a:lnSpc>
                <a:spcPct val="105000"/>
              </a:lnSpc>
              <a:spcAft>
                <a:spcPts val="800"/>
              </a:spcAft>
            </a:pPr>
            <a:r>
              <a:rPr sz="1550" b="1" i="0">
                <a:solidFill>
                  <a:srgbClr val="C3F400"/>
                </a:solidFill>
                <a:latin typeface="JetBrains Mono"/>
              </a:rPr>
              <a:t>▸  </a:t>
            </a:r>
            <a:r>
              <a:rPr sz="1550" b="0" i="0">
                <a:solidFill>
                  <a:srgbClr val="E5E2E1"/>
                </a:solidFill>
                <a:latin typeface="Space Grotesk"/>
              </a:rPr>
              <a:t>SPEC.md v1 feature-complete: studio dashboard (overview, settings, transactions, P2P), purchase history, P2P sell page, self-contained demo — shipped, CI-green.</a:t>
            </a:r>
          </a:p>
          <a:p>
            <a:pPr>
              <a:lnSpc>
                <a:spcPct val="105000"/>
              </a:lnSpc>
              <a:spcAft>
                <a:spcPts val="800"/>
              </a:spcAft>
            </a:pPr>
            <a:r>
              <a:rPr sz="1550" b="1" i="0">
                <a:solidFill>
                  <a:srgbClr val="C3F400"/>
                </a:solidFill>
                <a:latin typeface="JetBrains Mono"/>
              </a:rPr>
              <a:t>▸  </a:t>
            </a:r>
            <a:r>
              <a:rPr sz="1550" b="0" i="0">
                <a:solidFill>
                  <a:srgbClr val="E5E2E1"/>
                </a:solidFill>
                <a:latin typeface="Space Grotesk"/>
              </a:rPr>
              <a:t>Immediate: multi-anchor / stablecoin config + SEP-10 migration — low effort, unblocks moving off the single demo asset.</a:t>
            </a:r>
          </a:p>
          <a:p>
            <a:pPr>
              <a:lnSpc>
                <a:spcPct val="105000"/>
              </a:lnSpc>
              <a:spcAft>
                <a:spcPts val="800"/>
              </a:spcAft>
            </a:pPr>
            <a:r>
              <a:rPr sz="1550" b="1" i="0">
                <a:solidFill>
                  <a:srgbClr val="C3F400"/>
                </a:solidFill>
                <a:latin typeface="JetBrains Mono"/>
              </a:rPr>
              <a:t>▸  </a:t>
            </a:r>
            <a:r>
              <a:rPr sz="1550" b="0" i="0">
                <a:solidFill>
                  <a:srgbClr val="E5E2E1"/>
                </a:solidFill>
                <a:latin typeface="Space Grotesk"/>
              </a:rPr>
              <a:t>Near-term: passkey / smart-wallet onboarding + SEP-24 anchor checkout — highest-leverage conversion unlocks; SCF Build Award candidates.</a:t>
            </a:r>
          </a:p>
          <a:p>
            <a:pPr>
              <a:lnSpc>
                <a:spcPct val="105000"/>
              </a:lnSpc>
              <a:spcAft>
                <a:spcPts val="800"/>
              </a:spcAft>
            </a:pPr>
            <a:r>
              <a:rPr sz="1550" b="1" i="0">
                <a:solidFill>
                  <a:srgbClr val="C3F400"/>
                </a:solidFill>
                <a:latin typeface="JetBrains Mono"/>
              </a:rPr>
              <a:t>▸  </a:t>
            </a:r>
            <a:r>
              <a:rPr sz="1550" b="0" i="0">
                <a:solidFill>
                  <a:srgbClr val="E5E2E1"/>
                </a:solidFill>
                <a:latin typeface="Space Grotesk"/>
              </a:rPr>
              <a:t>Following: Soroban NFT item ownership (opt-in per studio), path-payment multi-asset checkout.</a:t>
            </a:r>
          </a:p>
          <a:p>
            <a:pPr>
              <a:lnSpc>
                <a:spcPct val="105000"/>
              </a:lnSpc>
              <a:spcAft>
                <a:spcPts val="800"/>
              </a:spcAft>
            </a:pPr>
            <a:r>
              <a:rPr sz="1550" b="1" i="0">
                <a:solidFill>
                  <a:srgbClr val="C3F400"/>
                </a:solidFill>
                <a:latin typeface="JetBrains Mono"/>
              </a:rPr>
              <a:t>▸  </a:t>
            </a:r>
            <a:r>
              <a:rPr sz="1550" b="0" i="0">
                <a:solidFill>
                  <a:srgbClr val="E5E2E1"/>
                </a:solidFill>
                <a:latin typeface="Space Grotesk"/>
              </a:rPr>
              <a:t>GTM in parallel: Philippines pilot cohort → APAC expansion → global positioning via grants and SDK partnerships.</a:t>
            </a:r>
          </a:p>
        </p:txBody>
      </p:sp>
      <p:sp>
        <p:nvSpPr>
          <p:cNvPr id="9" name="TextBox 8"/>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0" name="TextBox 9"/>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31313"/>
        </a:solidFill>
        <a:effectLst/>
      </p:bgPr>
    </p:bg>
    <p:spTree>
      <p:nvGrpSpPr>
        <p:cNvPr id="1" name=""/>
        <p:cNvGrpSpPr/>
        <p:nvPr/>
      </p:nvGrpSpPr>
      <p:grpSpPr/>
      <p:sp>
        <p:nvSpPr>
          <p:cNvPr id="2" name="Rectangle 1"/>
          <p:cNvSpPr/>
          <p:nvPr/>
        </p:nvSpPr>
        <p:spPr>
          <a:xfrm>
            <a:off x="0" y="0"/>
            <a:ext cx="12192000" cy="381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548640" y="640080"/>
            <a:ext cx="1005840" cy="1005840"/>
          </a:xfrm>
          <a:prstGeom prst="rect">
            <a:avLst/>
          </a:prstGeom>
        </p:spPr>
      </p:pic>
      <p:sp>
        <p:nvSpPr>
          <p:cNvPr id="4" name="TextBox 3"/>
          <p:cNvSpPr txBox="1"/>
          <p:nvPr/>
        </p:nvSpPr>
        <p:spPr>
          <a:xfrm>
            <a:off x="1737360" y="777240"/>
            <a:ext cx="5486400" cy="822960"/>
          </a:xfrm>
          <a:prstGeom prst="rect">
            <a:avLst/>
          </a:prstGeom>
          <a:noFill/>
        </p:spPr>
        <p:txBody>
          <a:bodyPr wrap="square" lIns="0" rIns="0" tIns="0" bIns="0">
            <a:spAutoFit/>
          </a:bodyPr>
          <a:lstStyle/>
          <a:p>
            <a:r>
              <a:rPr sz="3600" b="1" i="1">
                <a:solidFill>
                  <a:srgbClr val="E5E2E1"/>
                </a:solidFill>
                <a:latin typeface="Space Grotesk"/>
              </a:rPr>
              <a:t>x</a:t>
            </a:r>
            <a:r>
              <a:rPr sz="3600" b="1" i="1">
                <a:solidFill>
                  <a:srgbClr val="C3F400"/>
                </a:solidFill>
                <a:latin typeface="Space Grotesk"/>
              </a:rPr>
              <a:t>GameFi</a:t>
            </a:r>
          </a:p>
        </p:txBody>
      </p:sp>
      <p:sp>
        <p:nvSpPr>
          <p:cNvPr id="5" name="TextBox 4"/>
          <p:cNvSpPr txBox="1"/>
          <p:nvPr/>
        </p:nvSpPr>
        <p:spPr>
          <a:xfrm>
            <a:off x="548640" y="2148840"/>
            <a:ext cx="8229600" cy="320040"/>
          </a:xfrm>
          <a:prstGeom prst="rect">
            <a:avLst/>
          </a:prstGeom>
          <a:noFill/>
        </p:spPr>
        <p:txBody>
          <a:bodyPr wrap="square" lIns="0" rIns="0" tIns="0" bIns="0">
            <a:spAutoFit/>
          </a:bodyPr>
          <a:lstStyle/>
          <a:p>
            <a:r>
              <a:rPr sz="1250" b="1" i="0" spc="120">
                <a:solidFill>
                  <a:srgbClr val="C3F400"/>
                </a:solidFill>
                <a:latin typeface="JetBrains Mono"/>
              </a:rPr>
              <a:t>09 // TEAM &amp; THANKS</a:t>
            </a:r>
          </a:p>
        </p:txBody>
      </p:sp>
      <p:sp>
        <p:nvSpPr>
          <p:cNvPr id="6" name="Rectangle 5"/>
          <p:cNvSpPr/>
          <p:nvPr/>
        </p:nvSpPr>
        <p:spPr>
          <a:xfrm>
            <a:off x="548640" y="2441448"/>
            <a:ext cx="320040" cy="25400"/>
          </a:xfrm>
          <a:prstGeom prst="rect">
            <a:avLst/>
          </a:prstGeom>
          <a:solidFill>
            <a:srgbClr val="C3F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697480"/>
            <a:ext cx="10424160" cy="2926080"/>
          </a:xfrm>
          <a:prstGeom prst="rect">
            <a:avLst/>
          </a:prstGeom>
          <a:noFill/>
        </p:spPr>
        <p:txBody>
          <a:bodyPr wrap="square" lIns="0" rIns="0" tIns="0" bIns="0">
            <a:spAutoFit/>
          </a:bodyPr>
          <a:lstStyle/>
          <a:p>
            <a:pPr>
              <a:spcAft>
                <a:spcPts val="1000"/>
              </a:spcAft>
            </a:pPr>
            <a:r>
              <a:rPr sz="1700" b="1" i="0">
                <a:solidFill>
                  <a:srgbClr val="C3F400"/>
                </a:solidFill>
                <a:latin typeface="JetBrains Mono"/>
              </a:rPr>
              <a:t>▸  </a:t>
            </a:r>
            <a:r>
              <a:rPr sz="1700" b="0" i="0">
                <a:solidFill>
                  <a:srgbClr val="E5E2E1"/>
                </a:solidFill>
                <a:latin typeface="Space Grotesk"/>
              </a:rPr>
              <a:t>[Your Name] — role / contact</a:t>
            </a:r>
          </a:p>
          <a:p>
            <a:pPr>
              <a:spcAft>
                <a:spcPts val="1000"/>
              </a:spcAft>
            </a:pPr>
            <a:r>
              <a:rPr sz="1700" b="1" i="0">
                <a:solidFill>
                  <a:srgbClr val="C3F400"/>
                </a:solidFill>
                <a:latin typeface="JetBrains Mono"/>
              </a:rPr>
              <a:t>▸  </a:t>
            </a:r>
            <a:r>
              <a:rPr sz="1700" b="0" i="0">
                <a:solidFill>
                  <a:srgbClr val="E5E2E1"/>
                </a:solidFill>
                <a:latin typeface="Space Grotesk"/>
              </a:rPr>
              <a:t>[Teammate] — role / contact</a:t>
            </a:r>
          </a:p>
          <a:p>
            <a:pPr>
              <a:spcAft>
                <a:spcPts val="1000"/>
              </a:spcAft>
            </a:pPr>
            <a:r>
              <a:rPr sz="1700" b="1" i="0">
                <a:solidFill>
                  <a:srgbClr val="C3F400"/>
                </a:solidFill>
                <a:latin typeface="JetBrains Mono"/>
              </a:rPr>
              <a:t>▸  </a:t>
            </a:r>
            <a:r>
              <a:rPr sz="1700" b="0" i="0">
                <a:solidFill>
                  <a:srgbClr val="E5E2E1"/>
                </a:solidFill>
                <a:latin typeface="Space Grotesk"/>
              </a:rPr>
              <a:t>[Teammate] — role / contact</a:t>
            </a:r>
          </a:p>
        </p:txBody>
      </p:sp>
      <p:sp>
        <p:nvSpPr>
          <p:cNvPr id="8" name="TextBox 7"/>
          <p:cNvSpPr txBox="1"/>
          <p:nvPr/>
        </p:nvSpPr>
        <p:spPr>
          <a:xfrm>
            <a:off x="548640" y="4709160"/>
            <a:ext cx="10424160" cy="1097280"/>
          </a:xfrm>
          <a:prstGeom prst="rect">
            <a:avLst/>
          </a:prstGeom>
          <a:noFill/>
        </p:spPr>
        <p:txBody>
          <a:bodyPr wrap="square" lIns="0" rIns="0" tIns="0" bIns="0">
            <a:spAutoFit/>
          </a:bodyPr>
          <a:lstStyle/>
          <a:p>
            <a:r>
              <a:rPr sz="1200" b="0" i="0" spc="100">
                <a:solidFill>
                  <a:srgbClr val="ABD600"/>
                </a:solidFill>
                <a:latin typeface="JetBrains Mono"/>
              </a:rPr>
              <a:t>DOCS  </a:t>
            </a:r>
            <a:r>
              <a:rPr sz="1300" b="0" i="0">
                <a:solidFill>
                  <a:srgbClr val="C4C9AC"/>
                </a:solidFill>
                <a:latin typeface="JetBrains Mono"/>
              </a:rPr>
              <a:t>SPEC.md · AGENT.md · BRAND.md · docs/features.md · GitHub issue #137 (ecosystem report)</a:t>
            </a:r>
          </a:p>
          <a:p>
            <a:pPr>
              <a:spcBef>
                <a:spcPts val="1000"/>
              </a:spcBef>
            </a:pPr>
            <a:r>
              <a:rPr sz="1400" b="0" i="1">
                <a:solidFill>
                  <a:srgbClr val="E5E2E1"/>
                </a:solidFill>
                <a:latin typeface="Space Grotesk"/>
              </a:rPr>
              <a:t>Thanks to Gridlock Games (anchor partner), the Stellar Community Fund, and everyone reviewing this deck.</a:t>
            </a:r>
          </a:p>
        </p:txBody>
      </p:sp>
      <p:sp>
        <p:nvSpPr>
          <p:cNvPr id="9" name="TextBox 8"/>
          <p:cNvSpPr txBox="1"/>
          <p:nvPr/>
        </p:nvSpPr>
        <p:spPr>
          <a:xfrm>
            <a:off x="548640" y="6419088"/>
            <a:ext cx="6400800" cy="320040"/>
          </a:xfrm>
          <a:prstGeom prst="rect">
            <a:avLst/>
          </a:prstGeom>
          <a:noFill/>
        </p:spPr>
        <p:txBody>
          <a:bodyPr wrap="square" lIns="0" rIns="0" tIns="0" bIns="0">
            <a:spAutoFit/>
          </a:bodyPr>
          <a:lstStyle/>
          <a:p>
            <a:r>
              <a:rPr sz="1000" b="0" i="1">
                <a:solidFill>
                  <a:srgbClr val="8E9379"/>
                </a:solidFill>
                <a:latin typeface="JetBrains Mono"/>
              </a:rPr>
              <a:t>x</a:t>
            </a:r>
            <a:r>
              <a:rPr sz="1000" b="0" i="1">
                <a:solidFill>
                  <a:srgbClr val="ABD600"/>
                </a:solidFill>
                <a:latin typeface="JetBrains Mono"/>
              </a:rPr>
              <a:t>GameFi</a:t>
            </a:r>
            <a:r>
              <a:rPr sz="1000" b="0" i="0" spc="100">
                <a:solidFill>
                  <a:srgbClr val="8E9379"/>
                </a:solidFill>
                <a:latin typeface="JetBrains Mono"/>
              </a:rPr>
              <a:t>  //  STELLAR COMMERCE INFRASTRUCTURE</a:t>
            </a:r>
          </a:p>
        </p:txBody>
      </p:sp>
      <p:sp>
        <p:nvSpPr>
          <p:cNvPr id="10" name="TextBox 9"/>
          <p:cNvSpPr txBox="1"/>
          <p:nvPr/>
        </p:nvSpPr>
        <p:spPr>
          <a:xfrm>
            <a:off x="9966960" y="6419088"/>
            <a:ext cx="1188720" cy="320040"/>
          </a:xfrm>
          <a:prstGeom prst="rect">
            <a:avLst/>
          </a:prstGeom>
          <a:noFill/>
        </p:spPr>
        <p:txBody>
          <a:bodyPr wrap="square" lIns="0" rIns="0" tIns="0" bIns="0">
            <a:spAutoFit/>
          </a:bodyPr>
          <a:lstStyle/>
          <a:p>
            <a:pPr algn="r"/>
            <a:r>
              <a:rPr sz="1000" b="0" i="0" spc="100">
                <a:solidFill>
                  <a:srgbClr val="8E9379"/>
                </a:solidFill>
                <a:latin typeface="JetBrains Mono"/>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